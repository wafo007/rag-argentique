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6400800" cy="6400800"/>
          </a:xfrm>
          <a:prstGeom prst="ellipse">
            <a:avLst/>
          </a:prstGeom>
          <a:solidFill>
            <a:srgbClr val="0F2A1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914400"/>
            <a:ext cx="3840480" cy="3840480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5" name="Image 0" descr="/home/claude/pptx-project/assets/cpu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8686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3317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DE FIN D’ÉTUDES  •  ENTREPRISE WAFORA  •  CENTRE CERVARENT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21792" y="26974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CERVARENT AI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611880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recherche documentaire augmentée par intelligence artificielle (RAG Agentique)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40080" y="4434840"/>
            <a:ext cx="2926080" cy="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 — Soutenance de fin d’études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332720" y="5852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base documentaire riche, difficile à exploiter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157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volume croissant de documents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008376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Publications, rapports et articles scientifiques s’accumulent au sein du centre CERVARENT, sans point d’accès unifié.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/home/claude/pptx-project/assets/search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677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7157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recherche manuelle chronophage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0288" y="3008376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Retrouver une information précise impose de parcourir manuellement chaque document, sans garantie d’exhaustivité.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965960"/>
            <a:ext cx="3429000" cy="2880360"/>
          </a:xfrm>
          <a:prstGeom prst="roundRect">
            <a:avLst>
              <a:gd name="adj" fmla="val 3175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pptx-project/assets/us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2677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7157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utilisateurs non techniques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9328" y="3008376"/>
            <a:ext cx="3026664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Chercheurs, enseignants et étudiants ont besoin d’un accès simple, en langage naturel, sans compétence informatique.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507492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0B1F17"/>
          </a:solidFill>
          <a:ln/>
        </p:spPr>
      </p:sp>
      <p:sp>
        <p:nvSpPr>
          <p:cNvPr id="20" name="Text 15"/>
          <p:cNvSpPr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 — Comment permettre une recherche rapide, fiable et sourcée au sein des documents du centre, en langage naturel ?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la plateforme doit apporter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databas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2677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3008376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Réunir les publications du centre dans une base documentaire unique et interrogeable.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/home/claude/pptx-project/assets/zap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2677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Accélérer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3008376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Permettre une recherche d’information en langage naturel, sans connaissance préalable du contenu.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pptx-project/assets/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26771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Fiabiliser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3008376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 la traçabilité des réponses générées, en citant systématiquement les sources utilisées.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34272" y="1965960"/>
            <a:ext cx="2542032" cy="283464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21671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3" descr="/home/claude/pptx-project/assets/lock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2677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71576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3008376"/>
            <a:ext cx="2139696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Offrir un accès personnel, authentifié et historisé à chaque utilisateur de la plateforme.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07492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0B1F17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0749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quatre objectifs guident chaque choix technique présenté dans les slides suivantes.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CLÉ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RAG : Retrieval-Augmented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architecture qui combine une recherche documentaire ciblée et une génération de texte par IA, pour produire des réponses ancrées dans des documents réels — sans invention d’information.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1520" y="2606040"/>
            <a:ext cx="466344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2880360"/>
            <a:ext cx="548640" cy="5486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/home/claude/pptx-project/assets/search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301752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Récupération (Retrieval)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5840" y="35204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partir de la question posée, le système retrouve automatiquement les passages de documents les plus pertinents parmi ceux déjà indexés, par comparaison vectorielle.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766560" y="2606040"/>
            <a:ext cx="466344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</p:spPr>
      </p:sp>
      <p:sp>
        <p:nvSpPr>
          <p:cNvPr id="11" name="Shape 8"/>
          <p:cNvSpPr/>
          <p:nvPr/>
        </p:nvSpPr>
        <p:spPr>
          <a:xfrm>
            <a:off x="7040880" y="2880360"/>
            <a:ext cx="548640" cy="548640"/>
          </a:xfrm>
          <a:prstGeom prst="ellipse">
            <a:avLst/>
          </a:prstGeom>
          <a:solidFill>
            <a:srgbClr val="0F7A37"/>
          </a:solidFill>
          <a:ln/>
        </p:spPr>
      </p:sp>
      <p:pic>
        <p:nvPicPr>
          <p:cNvPr id="12" name="Image 1" descr="/home/claude/pptx-project/assets/cpu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3017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0" y="2880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Génération (Generation)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040880" y="352044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passages sont transmis à un grand modèle de langage, chargé de rédiger une réponse naturelle et sourcée, en s’appuyant exclusivement sur le contenu retrouvé.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5532120" y="3456432"/>
            <a:ext cx="1097280" cy="402336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6" name="Text 12"/>
          <p:cNvSpPr/>
          <p:nvPr/>
        </p:nvSpPr>
        <p:spPr>
          <a:xfrm>
            <a:off x="731520" y="5074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Bénéfice direct : les réponses restent ancrées dans les documents réels du centre, avec des sources vérifiables — contrairement à un assistant IA générique.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731520" y="562356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6EDEC"/>
          </a:solidFill>
          <a:ln/>
        </p:spPr>
      </p:sp>
      <p:sp>
        <p:nvSpPr>
          <p:cNvPr id="18" name="Text 14"/>
          <p:cNvSpPr/>
          <p:nvPr/>
        </p:nvSpPr>
        <p:spPr>
          <a:xfrm>
            <a:off x="914400" y="5696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3B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générique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914400" y="59527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fondées sur des connaissances générales, sans lien avec les documents du centre, risque d’invention.</a:t>
            </a:r>
            <a:endParaRPr lang="en-US" sz="980" dirty="0"/>
          </a:p>
        </p:txBody>
      </p:sp>
      <p:sp>
        <p:nvSpPr>
          <p:cNvPr id="20" name="Shape 16"/>
          <p:cNvSpPr/>
          <p:nvPr/>
        </p:nvSpPr>
        <p:spPr>
          <a:xfrm>
            <a:off x="6382512" y="5623560"/>
            <a:ext cx="5257800" cy="777240"/>
          </a:xfrm>
          <a:prstGeom prst="roundRect">
            <a:avLst>
              <a:gd name="adj" fmla="val 7059"/>
            </a:avLst>
          </a:prstGeom>
          <a:solidFill>
            <a:srgbClr val="F3F8F4"/>
          </a:solidFill>
          <a:ln/>
        </p:spPr>
      </p:sp>
      <p:sp>
        <p:nvSpPr>
          <p:cNvPr id="21" name="Text 17"/>
          <p:cNvSpPr/>
          <p:nvPr/>
        </p:nvSpPr>
        <p:spPr>
          <a:xfrm>
            <a:off x="6565392" y="569671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(RAG)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6565392" y="5952744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fondées sur les documents réellement indexés, avec citation systématique des sources.</a:t>
            </a:r>
            <a:endParaRPr lang="en-US" sz="980" dirty="0"/>
          </a:p>
        </p:txBody>
      </p:sp>
      <p:sp>
        <p:nvSpPr>
          <p:cNvPr id="23" name="Text 1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architecture en trois couches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layers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03911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146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77977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41248" y="30723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discussion, sidebar rétractable, bibliothèque documentaire, prévisualisation.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087368" y="2857500"/>
            <a:ext cx="274320" cy="274320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1" name="Shape 8"/>
          <p:cNvSpPr/>
          <p:nvPr/>
        </p:nvSpPr>
        <p:spPr>
          <a:xfrm>
            <a:off x="4389120" y="17373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90288" y="1938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1" descr="/home/claude/pptx-project/assets/server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03911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90288" y="25146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90288" y="277977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(Java)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590288" y="30723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sécurisée, orchestration du pipeline RAG, authentification JWT.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7836408" y="2857500"/>
            <a:ext cx="274320" cy="274320"/>
          </a:xfrm>
          <a:prstGeom prst="rightArrow">
            <a:avLst/>
          </a:prstGeom>
          <a:solidFill>
            <a:srgbClr val="16A34A"/>
          </a:solidFill>
          <a:ln/>
        </p:spPr>
      </p:sp>
      <p:sp>
        <p:nvSpPr>
          <p:cNvPr id="18" name="Shape 14"/>
          <p:cNvSpPr/>
          <p:nvPr/>
        </p:nvSpPr>
        <p:spPr>
          <a:xfrm>
            <a:off x="8138160" y="1737360"/>
            <a:ext cx="3429000" cy="2514600"/>
          </a:xfrm>
          <a:prstGeom prst="roundRect">
            <a:avLst>
              <a:gd name="adj" fmla="val 363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39328" y="1938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0" name="Image 2" descr="/home/claude/pptx-project/asset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203911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39328" y="251460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&amp; stockage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339328" y="2779776"/>
            <a:ext cx="30266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 + Supabase Storage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8339328" y="3072384"/>
            <a:ext cx="30266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vectorielle et conservation des documents originaux.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640080" y="4434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484632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1"/>
          <p:cNvSpPr/>
          <p:nvPr/>
        </p:nvSpPr>
        <p:spPr>
          <a:xfrm>
            <a:off x="640080" y="484632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1051560" y="481888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appelle l’API REST du backend (JSON, JWT en en-tête)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640080" y="534924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9" name="Text 24"/>
          <p:cNvSpPr/>
          <p:nvPr/>
        </p:nvSpPr>
        <p:spPr>
          <a:xfrm>
            <a:off x="640080" y="53492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1051560" y="532180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orchestre le pipeline RAG (embeddings, recherche, génération)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640080" y="585216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27"/>
          <p:cNvSpPr/>
          <p:nvPr/>
        </p:nvSpPr>
        <p:spPr>
          <a:xfrm>
            <a:off x="640080" y="585216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051560" y="5824728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PostgreSQL/pgvector stocke les segments vectorisés ; Supabase Storage conserve les fichiers originaux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 du projet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08792" cy="4206240"/>
        </p:xfrm>
        <a:graphic>
          <a:graphicData uri="http://schemas.openxmlformats.org/drawingml/2006/table">
            <a:tbl>
              <a:tblPr/>
              <a:tblGrid>
                <a:gridCol w="2468880"/>
                <a:gridCol w="4297680"/>
                <a:gridCol w="41422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A3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18, TypeScript, Vite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utilisateur et logique client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Boot 3 (Java 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REST, sécurité, orchestration RAG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données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+ pgvector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des segments et recherche vectorielle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Stockage fichiers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 Storage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Conservation des documents originaux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artificielle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 AI — mistral-embed, mistral-medium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 et génération des réponses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Spring Security + JWT + BCrypt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5B6B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Sessions sécurisées, mots de passe hachés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7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pipeline RAG, étape par étape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239012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7" name="Image 0" descr="/home/claude/pptx-project/assets/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58775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68096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original est envoyé vers Supabase Storage et son texte est extrait.</a:t>
            </a:r>
            <a:endParaRPr lang="en-US" sz="930" dirty="0"/>
          </a:p>
        </p:txBody>
      </p:sp>
      <p:sp>
        <p:nvSpPr>
          <p:cNvPr id="10" name="Shape 7"/>
          <p:cNvSpPr/>
          <p:nvPr/>
        </p:nvSpPr>
        <p:spPr>
          <a:xfrm>
            <a:off x="2478024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11" name="Text 8"/>
          <p:cNvSpPr/>
          <p:nvPr/>
        </p:nvSpPr>
        <p:spPr>
          <a:xfrm>
            <a:off x="2587752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076956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3" name="Image 1" descr="/home/claude/pptx-project/assets/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828" y="2587752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569464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Découpage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606040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texte est segmenté en “chunks” de 1500 caractères, avec chevauchement de 100.</a:t>
            </a:r>
            <a:endParaRPr lang="en-US" sz="930" dirty="0"/>
          </a:p>
        </p:txBody>
      </p:sp>
      <p:sp>
        <p:nvSpPr>
          <p:cNvPr id="16" name="Shape 12"/>
          <p:cNvSpPr/>
          <p:nvPr/>
        </p:nvSpPr>
        <p:spPr>
          <a:xfrm>
            <a:off x="4315968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17" name="Text 13"/>
          <p:cNvSpPr/>
          <p:nvPr/>
        </p:nvSpPr>
        <p:spPr>
          <a:xfrm>
            <a:off x="4425696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914900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9" name="Image 2" descr="/home/claude/pptx-project/assets/cpu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3772" y="258775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07408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443984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segment est vectorisé via le modèle mistral-embed.</a:t>
            </a:r>
            <a:endParaRPr lang="en-US" sz="930" dirty="0"/>
          </a:p>
        </p:txBody>
      </p:sp>
      <p:sp>
        <p:nvSpPr>
          <p:cNvPr id="22" name="Shape 17"/>
          <p:cNvSpPr/>
          <p:nvPr/>
        </p:nvSpPr>
        <p:spPr>
          <a:xfrm>
            <a:off x="6153912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23" name="Text 18"/>
          <p:cNvSpPr/>
          <p:nvPr/>
        </p:nvSpPr>
        <p:spPr>
          <a:xfrm>
            <a:off x="626364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6752844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5" name="Image 3" descr="/home/claude/pptx-project/assets/databas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716" y="258775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45352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6281928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Vecteurs et segments sont stockés dans PostgreSQL via pgvector.</a:t>
            </a:r>
            <a:endParaRPr lang="en-US" sz="930" dirty="0"/>
          </a:p>
        </p:txBody>
      </p:sp>
      <p:sp>
        <p:nvSpPr>
          <p:cNvPr id="28" name="Shape 22"/>
          <p:cNvSpPr/>
          <p:nvPr/>
        </p:nvSpPr>
        <p:spPr>
          <a:xfrm>
            <a:off x="7991856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29" name="Text 23"/>
          <p:cNvSpPr/>
          <p:nvPr/>
        </p:nvSpPr>
        <p:spPr>
          <a:xfrm>
            <a:off x="8101584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590788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4" descr="/home/claude/pptx-project/assets/sear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9660" y="2587752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83296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8119872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est vectorisée puis comparée aux segments indexés (distance cosinus).</a:t>
            </a:r>
            <a:endParaRPr lang="en-US" sz="930" dirty="0"/>
          </a:p>
        </p:txBody>
      </p:sp>
      <p:sp>
        <p:nvSpPr>
          <p:cNvPr id="34" name="Shape 27"/>
          <p:cNvSpPr/>
          <p:nvPr/>
        </p:nvSpPr>
        <p:spPr>
          <a:xfrm>
            <a:off x="9829800" y="1920240"/>
            <a:ext cx="1709928" cy="3566160"/>
          </a:xfrm>
          <a:prstGeom prst="roundRect">
            <a:avLst>
              <a:gd name="adj" fmla="val 4278"/>
            </a:avLst>
          </a:prstGeom>
          <a:solidFill>
            <a:srgbClr val="F3F8F4"/>
          </a:solidFill>
          <a:ln/>
        </p:spPr>
      </p:sp>
      <p:sp>
        <p:nvSpPr>
          <p:cNvPr id="35" name="Text 28"/>
          <p:cNvSpPr/>
          <p:nvPr/>
        </p:nvSpPr>
        <p:spPr>
          <a:xfrm>
            <a:off x="9939528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6" name="Shape 29"/>
          <p:cNvSpPr/>
          <p:nvPr/>
        </p:nvSpPr>
        <p:spPr>
          <a:xfrm>
            <a:off x="10428732" y="2468880"/>
            <a:ext cx="512064" cy="51206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7" name="Image 5" descr="/home/claude/pptx-project/assets/chat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47604" y="2587752"/>
            <a:ext cx="274320" cy="27432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921240" y="3154680"/>
            <a:ext cx="1527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250" dirty="0"/>
          </a:p>
        </p:txBody>
      </p:sp>
      <p:sp>
        <p:nvSpPr>
          <p:cNvPr id="39" name="Text 31"/>
          <p:cNvSpPr/>
          <p:nvPr/>
        </p:nvSpPr>
        <p:spPr>
          <a:xfrm>
            <a:off x="9957816" y="3456432"/>
            <a:ext cx="1453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3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modèle mistral-medium rédige une réponse sourcée à partir du contexte retrouvé.</a:t>
            </a:r>
            <a:endParaRPr lang="en-US" sz="930" dirty="0"/>
          </a:p>
        </p:txBody>
      </p:sp>
      <p:sp>
        <p:nvSpPr>
          <p:cNvPr id="40" name="Text 32"/>
          <p:cNvSpPr/>
          <p:nvPr/>
        </p:nvSpPr>
        <p:spPr>
          <a:xfrm>
            <a:off x="640080" y="5715000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pertinence affiché = 1 − distance cosinus  •  Seuil de filtrage par défaut : 0,55  •  topK réglable de 1 à 8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peut faire un utilisateur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89280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99339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44144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73405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compte, connexion sécurisée par jeton JWT, déconnexion.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8912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89280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/home/claude/pptx-project/assets/uploa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99339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44144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documents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90288" y="273405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DOCX, TXT — traitement synchrone ou asynchrone avec suivi de progression.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89280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pptx-project/assets/cha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2" y="199339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4144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en langage naturel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39328" y="273405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Questions/réponses avec historique de conversation et régénération de réponse.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4224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3" descr="/home/claude/pptx-project/assets/fi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32511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7731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citées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41248" y="506577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réponse liste les documents utilisés, avec extrait et score de pertinence.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89120" y="40233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0288" y="4224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6" name="Image 4" descr="/home/claude/pptx-project/assets/ey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325112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0288" y="47731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Prévisualisation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90288" y="506577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Aperçu intégré du document original (PDF, DOCX, TXT, image), façon Claude.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4023360"/>
            <a:ext cx="3429000" cy="2103120"/>
          </a:xfrm>
          <a:prstGeom prst="roundRect">
            <a:avLst>
              <a:gd name="adj" fmla="val 4348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39328" y="422452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31" name="Image 5" descr="/home/claude/pptx-project/assets/downloa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9912" y="4325112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39328" y="47731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39328" y="5065776"/>
            <a:ext cx="3026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du fichier original tel qu’uploadé, depuis le chat ou la bibliothèque.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— Espace de discussion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de conversations rétractable, historique regroupé par date, réponses sourcées en temps réel (streaming).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F7FAF8"/>
          </a:solidFill>
          <a:ln w="15875">
            <a:solidFill>
              <a:srgbClr val="16A34A"/>
            </a:solidFill>
            <a:prstDash val="dash"/>
          </a:ln>
        </p:spPr>
      </p:sp>
      <p:pic>
        <p:nvPicPr>
          <p:cNvPr id="6" name="Image 0" descr="/home/claude/pptx-project/assets/file_16A3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3520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1148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CAPTURE D’ÉCRAN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d’écran de l’espace de discussion (sidebar + fenêtre de chat + sources)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— Bibliothèque documentaire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des documents indexés, upload par glisser-déposer, prévisualisation et téléchargement en un clic.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10908792" cy="4023360"/>
          </a:xfrm>
          <a:prstGeom prst="roundRect">
            <a:avLst>
              <a:gd name="adj" fmla="val 1818"/>
            </a:avLst>
          </a:prstGeom>
          <a:solidFill>
            <a:srgbClr val="F7FAF8"/>
          </a:solidFill>
          <a:ln w="15875">
            <a:solidFill>
              <a:srgbClr val="16A34A"/>
            </a:solidFill>
            <a:prstDash val="dash"/>
          </a:ln>
        </p:spPr>
      </p:sp>
      <p:pic>
        <p:nvPicPr>
          <p:cNvPr id="6" name="Image 0" descr="/home/claude/pptx-project/assets/file_16A34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0156" y="3520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411480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EMPLACEMENT CAPTURE D’ÉCRAN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4389120"/>
            <a:ext cx="10177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d’écran de la bibliothèque documentaire et du panneau d’upload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sécurité pensée à chaque couche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lo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Mots de passe hachés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871216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BCrypt — aucun mot de passe n’est jamais stocké en clair.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8288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/home/claude/pptx-project/assets/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130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par jeton JWT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2871216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Jeton signé, valable 24h, requis pour toute route protégée de l’API.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8288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pptx-project/assets/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305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de stockage privé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2871216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aux documents via des URLs signées temporaires, jamais d’exposition directe.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34272" y="1828800"/>
            <a:ext cx="2542032" cy="3108960"/>
          </a:xfrm>
          <a:prstGeom prst="roundRect">
            <a:avLst>
              <a:gd name="adj" fmla="val 3597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3" descr="/home/claude/pptx-project/assets/us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1305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des données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2871216"/>
            <a:ext cx="21396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clé d’administration Supabase reste strictement côté serveur.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5212080"/>
            <a:ext cx="10908792" cy="868680"/>
          </a:xfrm>
          <a:prstGeom prst="roundRect">
            <a:avLst>
              <a:gd name="adj" fmla="val 8421"/>
            </a:avLst>
          </a:prstGeom>
          <a:solidFill>
            <a:srgbClr val="0B1F17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521208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Bonne pratique retenue : aucune clé sensible (Supabase, Mistral AI) n’est exposée au frontend — tous les appels externes transitent exclusivement par le backend.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D’EXPÉRIENCE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techniques et défis rencontrés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3F8F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assumés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56032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24231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pgvector plutôt qu’une base vectorielle dédiée : simplicité d’exploitation, une seule base à administrer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7"/>
          <p:cNvSpPr/>
          <p:nvPr/>
        </p:nvSpPr>
        <p:spPr>
          <a:xfrm>
            <a:off x="123444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signées Supabase plutôt qu’un bucket public : sécurité renforcée sans complexifier le frontend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201168" cy="20116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4434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d’upload synchrone/asynchrone : flexibilité selon la taille du document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55080" y="1783080"/>
            <a:ext cx="5212080" cy="4206240"/>
          </a:xfrm>
          <a:prstGeom prst="roundRect">
            <a:avLst>
              <a:gd name="adj" fmla="val 2174"/>
            </a:avLst>
          </a:prstGeom>
          <a:solidFill>
            <a:srgbClr val="F3F8F4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0116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surmontées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29400" y="2560320"/>
            <a:ext cx="201168" cy="201168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42316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fichier original conservé à l’origine : ajout de Supabase Storage sans casser l’indexation existante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629400" y="3566160"/>
            <a:ext cx="201168" cy="201168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17" name="Text 15"/>
          <p:cNvSpPr/>
          <p:nvPr/>
        </p:nvSpPr>
        <p:spPr>
          <a:xfrm>
            <a:off x="6949440" y="342900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Prévisualisation multi-format (PDF, DOCX, image) directement dans le navigateur, sans backend dédié par format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629400" y="4572000"/>
            <a:ext cx="201168" cy="201168"/>
          </a:xfrm>
          <a:prstGeom prst="ellipse">
            <a:avLst/>
          </a:prstGeom>
          <a:solidFill>
            <a:srgbClr val="0F7A37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443484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en flux continu (streaming) tout en conservant l’historique de conversation cohérent côté client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4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Pistes d’évolution envisagées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6" name="Image 0" descr="/home/claude/pptx-project/assets/user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130552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rôles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41248" y="2871216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Introduire un rôle administrateur distinct pour la modération de la bibliothèque.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438144" y="182880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39312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1" name="Image 1" descr="/home/claude/pptx-project/assets/loc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9896" y="213055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39312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oublié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639312" y="2871216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 service d’envoi d’e-mails pour la récupération de compte.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36208" y="182880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37376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6" name="Image 2" descr="/home/claude/pptx-project/assets/trending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130552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37376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analytique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37376" y="2871216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Statistiques d’usage, questions fréquentes, documents les plus consultés.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9034272" y="1828800"/>
            <a:ext cx="2542032" cy="2377440"/>
          </a:xfrm>
          <a:prstGeom prst="roundRect">
            <a:avLst>
              <a:gd name="adj" fmla="val 3846"/>
            </a:avLst>
          </a:prstGeom>
          <a:solidFill>
            <a:srgbClr val="F3F8F4"/>
          </a:solidFill>
          <a:ln/>
          <a:effectLst>
            <a:outerShdw sx="100000" sy="100000" kx="0" ky="0" algn="bl" rotWithShape="0" blurRad="76200" dist="25400" dir="5400000">
              <a:srgbClr val="1B3A2A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235440" y="2029968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1" name="Image 3" descr="/home/claude/pptx-project/assets/serv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130552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35440" y="2578608"/>
            <a:ext cx="2139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Conteneurisation Docker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235440" y="2871216"/>
            <a:ext cx="21396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Simplifier le déploiement backend/frontend/base de données.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640080" y="4709160"/>
            <a:ext cx="10908792" cy="685800"/>
          </a:xfrm>
          <a:prstGeom prst="roundRect">
            <a:avLst>
              <a:gd name="adj" fmla="val 10667"/>
            </a:avLst>
          </a:prstGeom>
          <a:solidFill>
            <a:srgbClr val="0B1F17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70916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évolutions ne remettent pas en cause l’architecture actuelle : elles s’y intègrent de façon incrémentale.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0F2A1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plateforme fonctionnelle, sécurisée et évolutive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0F2A1F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10058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couches applicatives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(React, Spring Boot, PostgreSQL)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0F2A1F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46634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étapes du pipeline RAG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l’upload à la réponse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138160" y="1920240"/>
            <a:ext cx="3291840" cy="1920240"/>
          </a:xfrm>
          <a:prstGeom prst="roundRect">
            <a:avLst>
              <a:gd name="adj" fmla="val 4762"/>
            </a:avLst>
          </a:prstGeom>
          <a:solidFill>
            <a:srgbClr val="0F2A1F"/>
          </a:solidFill>
          <a:ln w="12700">
            <a:solidFill>
              <a:srgbClr val="0F7A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21488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2C5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8321040" y="31089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réponses sourcées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E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traçables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97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répond à la problématique initiale : centraliser, interroger et exploiter la base documentaire du centre en langage naturel, avec des réponses fiables et sourcées.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Manuel de présentation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515600" y="65288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2743200"/>
            <a:ext cx="7315200" cy="7315200"/>
          </a:xfrm>
          <a:prstGeom prst="ellipse">
            <a:avLst/>
          </a:prstGeom>
          <a:solidFill>
            <a:srgbClr val="0F2A1F"/>
          </a:solidFill>
          <a:ln/>
        </p:spPr>
      </p:sp>
      <p:sp>
        <p:nvSpPr>
          <p:cNvPr id="3" name="Shape 1"/>
          <p:cNvSpPr/>
          <p:nvPr/>
        </p:nvSpPr>
        <p:spPr>
          <a:xfrm>
            <a:off x="5394960" y="2331720"/>
            <a:ext cx="1371600" cy="13716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4" name="Image 0" descr="/home/claude/pptx-project/assets/chat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274320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3977640"/>
            <a:ext cx="12188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0" y="46634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C9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CERVARENT AI — Plateforme RAG Agentique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2026-07-18T21:54:19Z</dcterms:created>
  <dcterms:modified xsi:type="dcterms:W3CDTF">2026-07-18T21:54:19Z</dcterms:modified>
</cp:coreProperties>
</file>